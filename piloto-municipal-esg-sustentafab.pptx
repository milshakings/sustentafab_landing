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1 - Portada: Establece la propuesta de valor ejecutiva de SustentaFab orientada a municipios y gerencias ESG. Muestra el respaldo institucional de Fundación Chile, USACH y Quilpué con madurez TRL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2 - Diagnóstico Territorial: Plantea el problema desde el dolor presupuestario municipal y el peligro para adultos mayores. Se fundamenta en datos duros de Quilpué y literatura de resiliencia térmica.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3 - Catálogo Integrado: Demuestra la doble capacidad del proyecto: infraestructura de escala municipal (escaños y paraderos) y accesorios directos de salud pública para personas mayores (Kits UV y Fractal Grips).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4 - ROI Social: Desplaza el término 'triple impacto' genérico por la Doctrina del ROI Social con 3 pilares cuantitativos: ahorro 66% en OpEx, trazabilidad MRV y mitigación del vandalismo por co-diseño.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5 - Unit Economics: Presenta una tabla comparativa clara con rangos de precio en UF y CLP, contrastándolos con licitaciones estándar y demostrando la amortización en 18-24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6 - Oferta y Cierre: Entrega la oferta concreta de piloto (unidades, plazo, entregables), los mecanismos administrativos (Compra Ágil, Convenio, Contrato Directo), contacto ejecutivo y la frase de transparencia TRL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51560"/>
            <a:ext cx="36576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A580C"/>
                </a:solidFill>
                <a:latin typeface="Arial"/>
              </a:defRPr>
            </a:pPr>
            <a:r>
              <a:t>DOSSIER EJECUTIVO • PILOTO B2G / ESG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SUSTENTAFAB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Arial"/>
              </a:defRPr>
            </a:pPr>
            <a:r>
              <a:t>Infraestructura Urbana Resiliente y Protección Climática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94A3B8"/>
                </a:solidFill>
                <a:latin typeface="Arial"/>
              </a:defRPr>
            </a:pPr>
            <a:r>
              <a:t>Manufactura circular descentralizada para valorización de polímeros locales (Ley REP N° 20.920), mitigación de islas de calor y protección física para personas mayores mediante bio-geometría 3D.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80560"/>
            <a:ext cx="24231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RESIDENCIA TECNOLÓGICA</a:t>
            </a:r>
          </a:p>
          <a:p>
            <a:pPr algn="ctr"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startup.lab01 - Fundación Chile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7016" y="4480560"/>
            <a:ext cx="24231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VALIDACIÓN CIENTÍFICA</a:t>
            </a:r>
          </a:p>
          <a:p>
            <a:pPr algn="ctr"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Laboratorios LEMAA - USACH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480560"/>
            <a:ext cx="24231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LABORATORIO URBANO</a:t>
            </a:r>
          </a:p>
          <a:p>
            <a:pPr algn="ctr"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I. Municipalidad de Quilpué (BNUP)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2248" y="4480560"/>
            <a:ext cx="24231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MADUREZ TECNOLÓGICA</a:t>
            </a:r>
          </a:p>
          <a:p>
            <a:pPr algn="ctr"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TRL 5 Validado en Terreno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Contacto Ejecutivo: Raúl Galleguillos F. • Director General SustentaFab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DIAGNÓSTICO TERRITORIAL &amp; URGENCIA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El modelo lineal satura vertederos comunales y convierte las plazas en radiadores térmicos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El triple desafío en el espacio público: costos millonarios de disposición, exigencias Ley REP y crisis de calor extremo.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250" b="1">
                <a:solidFill>
                  <a:srgbClr val="DC2626"/>
                </a:solidFill>
                <a:latin typeface="Arial"/>
              </a:defRPr>
            </a:pPr>
            <a:r>
              <a:t>PASIVOS MUNICIPALES: EL MODELO LINEAL</a:t>
            </a:r>
          </a:p>
          <a:p>
            <a:pPr algn="l"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Costo Ineficiente de Disposición: </a:t>
            </a:r>
            <a:r>
              <a:rPr sz="1050">
                <a:solidFill>
                  <a:srgbClr val="64748B"/>
                </a:solidFill>
              </a:rPr>
              <a:t>Los municipios destinan millones en trasladar y enterrar plástico en rellenos sanitarios saturados (Quilpué genera 48.755 ton/año de basura).</a:t>
            </a:r>
          </a:p>
          <a:p>
            <a:pPr algn="l"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La Trampa Térmica del Hormigón: </a:t>
            </a:r>
            <a:r>
              <a:rPr sz="1050">
                <a:solidFill>
                  <a:srgbClr val="64748B"/>
                </a:solidFill>
              </a:rPr>
              <a:t>El mobiliario tradicional de hormigón supera los 50°C bajo radiación estival, actuando como acumulador y radiador de calor en plazas.</a:t>
            </a:r>
          </a:p>
          <a:p>
            <a:pPr algn="l"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Afectación Crítica a Personas Mayores: </a:t>
            </a:r>
            <a:r>
              <a:rPr sz="1050">
                <a:solidFill>
                  <a:srgbClr val="64748B"/>
                </a:solidFill>
              </a:rPr>
              <a:t>En Quilpué, los mayores de 65 años aumentaron un 149%. Los trayectos presenciales de 3,5 hrs exponen a la población a fatiga térmica y golpes de calor.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120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250" b="1">
                <a:solidFill>
                  <a:srgbClr val="16A34A"/>
                </a:solidFill>
                <a:latin typeface="Arial"/>
              </a:defRPr>
            </a:pPr>
            <a:r>
              <a:t>ACTIVOS CLIMÁTICOS: LA RESPUESTA SUSTENTAFAB</a:t>
            </a:r>
          </a:p>
          <a:p>
            <a:pPr algn="l"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Valorización Local (Ley REP 20.920): </a:t>
            </a:r>
            <a:r>
              <a:rPr sz="1050">
                <a:solidFill>
                  <a:srgbClr val="64748B"/>
                </a:solidFill>
              </a:rPr>
              <a:t>Transformación descentralizada de polímeros (PET, HDPE, PP) en infraestructura pública mediante impresión 3D a gran escala y termofusión.</a:t>
            </a:r>
          </a:p>
          <a:p>
            <a:pPr algn="l"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Ecodiseño con Disipación Pasiva: </a:t>
            </a:r>
            <a:r>
              <a:rPr sz="1050">
                <a:solidFill>
                  <a:srgbClr val="64748B"/>
                </a:solidFill>
              </a:rPr>
              <a:t>Geometrías fractales y paramétricas que permiten el flujo de aire y autodisipan el calor, reduciendo hasta 8°C la temperatura superficial frente al hormigón.</a:t>
            </a:r>
          </a:p>
          <a:p>
            <a:pPr algn="l"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Co-Diseño con la Comunidad Senior: </a:t>
            </a:r>
            <a:r>
              <a:rPr sz="1050">
                <a:solidFill>
                  <a:srgbClr val="64748B"/>
                </a:solidFill>
              </a:rPr>
              <a:t>Talleres de Design Thinking vinculante que adaptan ergonomía a dolencias reales (artrosis) y generan sentido de arraigo, frenando el deterioro urbano.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1700" b="1">
                <a:solidFill>
                  <a:srgbClr val="EA580C"/>
                </a:solidFill>
                <a:latin typeface="Arial"/>
              </a:defRPr>
            </a:pPr>
            <a:r>
              <a:t>48.755 TON/AÑO</a:t>
            </a:r>
          </a:p>
          <a:p>
            <a:pPr algn="ctr"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Basura domiciliaria dispuesta en vertederos comunales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303520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1700" b="1">
                <a:solidFill>
                  <a:srgbClr val="0D9488"/>
                </a:solidFill>
                <a:latin typeface="Arial"/>
              </a:defRPr>
            </a:pPr>
            <a:r>
              <a:t>+149,3% CRECIMIENTO</a:t>
            </a:r>
          </a:p>
          <a:p>
            <a:pPr algn="ctr"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Aumento de personas mayores en zonas piloto en Quilpué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5303520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1700" b="1">
                <a:solidFill>
                  <a:srgbClr val="EF4444"/>
                </a:solidFill>
                <a:latin typeface="Arial"/>
              </a:defRPr>
            </a:pPr>
            <a:r>
              <a:t>&gt; 50°C SUPERFICIE</a:t>
            </a:r>
          </a:p>
          <a:p>
            <a:pPr algn="ctr"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Temperatura del hormigón tradicional en plazas públicas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SOLUCIONES INTEGRADAS • CATÁLOGO 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Un catálogo modular que une infraestructura comunitaria y micro-movilidad senior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Activos complementarios de protección pasiva desarrollados bajo ecodiseño paramétrico y manufactura circular.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250" b="1">
                <a:solidFill>
                  <a:srgbClr val="EA580C"/>
                </a:solidFill>
                <a:latin typeface="Arial"/>
              </a:defRPr>
            </a:pPr>
            <a:r>
              <a:t>LÍNEA 1: INFRAESTRUCTURA URBANA COMUNITARIA</a:t>
            </a:r>
          </a:p>
          <a:p>
            <a:pPr algn="l"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▪ Refugios Peatonales Paramétricos:
</a:t>
            </a:r>
            <a:r>
              <a:rPr sz="1000">
                <a:solidFill>
                  <a:srgbClr val="64748B"/>
                </a:solidFill>
              </a:rPr>
              <a:t>Módulos de sombra y detención con disipación pasiva para paraderos de locomoción colectiva e islas de calor críticas. Impresión 3D estructural en polímeros reciclados.</a:t>
            </a:r>
          </a:p>
          <a:p>
            <a:pPr algn="l"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▪ Escaños Climáticos Modulares:
</a:t>
            </a:r>
            <a:r>
              <a:rPr sz="1000">
                <a:solidFill>
                  <a:srgbClr val="64748B"/>
                </a:solidFill>
              </a:rPr>
              <a:t>Asientos comunitarios atérmicos con superficies texturizadas que sustituyen el hormigón, eliminando riesgo de quemaduras y optimizando el flujo de ventilación.</a:t>
            </a:r>
          </a:p>
          <a:p>
            <a:pPr algn="l"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▪ Propiedades de Alto Rendimiento:
</a:t>
            </a:r>
            <a:r>
              <a:rPr sz="1000">
                <a:solidFill>
                  <a:srgbClr val="64748B"/>
                </a:solidFill>
              </a:rPr>
              <a:t>100% lavable con agua a presión, con protección anti-UV integrada, sin pintura ni barnices periódicos. Vida útil superior a 15 años certificada (3x superior a la madera).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250" b="1">
                <a:solidFill>
                  <a:srgbClr val="0D9488"/>
                </a:solidFill>
                <a:latin typeface="Arial"/>
              </a:defRPr>
            </a:pPr>
            <a:r>
              <a:t>LÍNEA 2: AYUDAS TÉCNICAS Y MICRO-MOVILIDAD SENIOR</a:t>
            </a:r>
          </a:p>
          <a:p>
            <a:pPr algn="l"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▪ Kits Micro-Refugio UV (Andadores Rollator):
</a:t>
            </a:r>
            <a:r>
              <a:rPr sz="1000">
                <a:solidFill>
                  <a:srgbClr val="64748B"/>
                </a:solidFill>
              </a:rPr>
              <a:t>Pantallas modulares de 50x60 cm con abrazaderas rápidas para andadores estándar. Crean sombra portátil personal en trayectos de 'última milla' a consultorios y bancos.</a:t>
            </a:r>
          </a:p>
          <a:p>
            <a:pPr algn="l"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▪ Fractal Grips (Mangos Ventilados para Bastones):
</a:t>
            </a:r>
            <a:r>
              <a:rPr sz="1000">
                <a:solidFill>
                  <a:srgbClr val="64748B"/>
                </a:solidFill>
              </a:rPr>
              <a:t>Empuñaduras con arquitectura biomimética y conductos internos de ventilación. Evitan el recalentamiento y sudor de la mano, protegiendo articulaciones con artrosis.</a:t>
            </a:r>
          </a:p>
          <a:p>
            <a:pPr algn="l"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▪ Sensores Visuales 'Sustenta-Alert':
</a:t>
            </a:r>
            <a:r>
              <a:rPr sz="1000">
                <a:solidFill>
                  <a:srgbClr val="64748B"/>
                </a:solidFill>
              </a:rPr>
              <a:t>Dispositivos compactos impresos en 3D con alerta cromática inmediata que avisan al usuario cuando la temperatura exterior entra en rango de riesgo de golpe de calor.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RETORNO COMUNAL &amp; CERO GREENWASHING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La Doctrina del ROI Social audita un 66% de ahorro en OpEx y certificación digital MRV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Transformando la responsabilidad ambiental en eficiencia presupuestaria medible y paz social territorial.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1. EFICIENCIA OPERATIVA (OPEX)</a:t>
            </a:r>
          </a:p>
          <a:p>
            <a:pPr algn="ctr">
              <a:spcBef>
                <a:spcPts val="200"/>
              </a:spcBef>
              <a:defRPr sz="1250" b="1">
                <a:solidFill>
                  <a:srgbClr val="0F172A"/>
                </a:solidFill>
                <a:latin typeface="Arial"/>
              </a:defRPr>
            </a:pPr>
            <a:r>
              <a:t>Ahorro Directo de Presupuesto</a:t>
            </a:r>
          </a:p>
          <a:p>
            <a:pPr algn="l"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Reducción del 66% en Mantención: </a:t>
            </a:r>
            <a:r>
              <a:rPr sz="950">
                <a:solidFill>
                  <a:srgbClr val="64748B"/>
                </a:solidFill>
              </a:rPr>
              <a:t>El mobiliario convencional exige 10% a 12% de inversión anual en pintura, barniz y soldaduras. SustentaFab no requiere recubrimientos.</a:t>
            </a:r>
          </a:p>
          <a:p>
            <a:pPr algn="l"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Inmunidad a Clima y Salinidad: </a:t>
            </a:r>
            <a:r>
              <a:rPr sz="950">
                <a:solidFill>
                  <a:srgbClr val="64748B"/>
                </a:solidFill>
              </a:rPr>
              <a:t>Polímeros químicamente estables, inertes ante brisa marina y radiación ultravioleta continua.</a:t>
            </a:r>
          </a:p>
          <a:p>
            <a:pPr algn="l"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Vida Útil Certificada &gt;15 Años: </a:t>
            </a:r>
            <a:r>
              <a:rPr sz="950">
                <a:solidFill>
                  <a:srgbClr val="64748B"/>
                </a:solidFill>
              </a:rPr>
              <a:t>Durabilidad 3 veces superior a la madera tratada y sin fragilidad de desprendimiento de hormigón.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78308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2. TRAZABILIDAD DIGITAL MRV</a:t>
            </a:r>
          </a:p>
          <a:p>
            <a:pPr algn="ctr">
              <a:spcBef>
                <a:spcPts val="200"/>
              </a:spcBef>
              <a:defRPr sz="1250" b="1">
                <a:solidFill>
                  <a:srgbClr val="0F172A"/>
                </a:solidFill>
                <a:latin typeface="Arial"/>
              </a:defRPr>
            </a:pPr>
            <a:r>
              <a:t>Certificación para Ley REP y ESG</a:t>
            </a:r>
          </a:p>
          <a:p>
            <a:pPr algn="l"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Medición, Reporte y Verificación: </a:t>
            </a:r>
            <a:r>
              <a:rPr sz="950">
                <a:solidFill>
                  <a:srgbClr val="64748B"/>
                </a:solidFill>
              </a:rPr>
              <a:t>Cada activo instalado cuenta con trazabilidad digital georreferenciada en plataforma.</a:t>
            </a:r>
          </a:p>
          <a:p>
            <a:pPr algn="l"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Toneladas Locales Desviadas: </a:t>
            </a:r>
            <a:r>
              <a:rPr sz="950">
                <a:solidFill>
                  <a:srgbClr val="64748B"/>
                </a:solidFill>
              </a:rPr>
              <a:t>Auditoría certificada de kilogramos de plástico territorial que evitaron el relleno sanitario.</a:t>
            </a:r>
          </a:p>
          <a:p>
            <a:pPr algn="l"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Mitigación de CO2e Auditada: </a:t>
            </a:r>
            <a:r>
              <a:rPr sz="950">
                <a:solidFill>
                  <a:srgbClr val="64748B"/>
                </a:solidFill>
              </a:rPr>
              <a:t>Reporte cuantitativo de huella de carbono evitada para auditorías de SECPLA y reportes de sostenibilidad corporativa.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1856" y="178308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3B82F6"/>
                </a:solidFill>
                <a:latin typeface="Arial"/>
              </a:defRPr>
            </a:pPr>
            <a:r>
              <a:t>3. CO-DISEÑO Y PAZ SOCIAL</a:t>
            </a:r>
          </a:p>
          <a:p>
            <a:pPr algn="ctr">
              <a:spcBef>
                <a:spcPts val="200"/>
              </a:spcBef>
              <a:defRPr sz="1250" b="1">
                <a:solidFill>
                  <a:srgbClr val="0F172A"/>
                </a:solidFill>
                <a:latin typeface="Arial"/>
              </a:defRPr>
            </a:pPr>
            <a:r>
              <a:t>Mitigación Real del Deterioro</a:t>
            </a:r>
          </a:p>
          <a:p>
            <a:pPr algn="l"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Talleres Vinculantes Design Thinking: </a:t>
            </a:r>
            <a:r>
              <a:rPr sz="950">
                <a:solidFill>
                  <a:srgbClr val="64748B"/>
                </a:solidFill>
              </a:rPr>
              <a:t>Adultos mayores y dirigentes vecinales co-diseñan alturas, ergonomía y necesidades locales.</a:t>
            </a:r>
          </a:p>
          <a:p>
            <a:pPr algn="l"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Apropiación Comunitaria: </a:t>
            </a:r>
            <a:r>
              <a:rPr sz="950">
                <a:solidFill>
                  <a:srgbClr val="64748B"/>
                </a:solidFill>
              </a:rPr>
              <a:t>La comunidad que participa activamente en el diseño cuida y vigila el activo público instalado.</a:t>
            </a:r>
          </a:p>
          <a:p>
            <a:pPr algn="l"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Tasa de Vandalismo -30% a -60%: </a:t>
            </a:r>
            <a:r>
              <a:rPr sz="950">
                <a:solidFill>
                  <a:srgbClr val="64748B"/>
                </a:solidFill>
              </a:rPr>
              <a:t>Reducción radical en costos de reposición por destrucción de mobiliario en el espacio público.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UNIT ECONOMICS &amp; ESTRUCTURA DE PRECIOS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Estructura de costos desde 12 UF amortiza la inversión comunal en menos de 24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Valores de referencia competitivos frente a licitaciones tradicionales de hormigón que carecen de adaptación climática.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03120"/>
                <a:gridCol w="2560320"/>
                <a:gridCol w="3413455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Solución / Activo</a:t>
                      </a:r>
                    </a:p>
                  </a:txBody>
                  <a:tcPr marL="164592" marR="164592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Rango Piloto Referencial</a:t>
                      </a:r>
                    </a:p>
                  </a:txBody>
                  <a:tcPr marL="164592" marR="164592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Mobiliario Tradicional</a:t>
                      </a:r>
                    </a:p>
                  </a:txBody>
                  <a:tcPr marL="164592" marR="164592" marT="109728" marB="109728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Ventaja Competitiva y Retorno SustentaFab</a:t>
                      </a:r>
                    </a:p>
                  </a:txBody>
                  <a:tcPr marL="164592" marR="164592" marT="109728" marB="109728"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Escaño Climático Modular</a:t>
                      </a:r>
                      <a:br/>
                      <a:r>
                        <a:t>(Incluye co-diseño)</a:t>
                      </a:r>
                    </a:p>
                  </a:txBody>
                  <a:tcPr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Desde 12 UF</a:t>
                      </a:r>
                      <a:br/>
                      <a:r>
                        <a:t>(~$450.000 CLP + IVA)</a:t>
                      </a:r>
                    </a:p>
                  </a:txBody>
                  <a:tcPr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Escaño hormigón / madera:</a:t>
                      </a:r>
                      <a:br/>
                      <a:r>
                        <a:t>$380.000 - $550.000 CLP</a:t>
                      </a:r>
                    </a:p>
                  </a:txBody>
                  <a:tcPr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Disipación pasiva de calor, 0 costo en barniz/pintura, lavable con agua, 100% circular con trazabilidad MRV.</a:t>
                      </a:r>
                    </a:p>
                  </a:txBody>
                  <a:tcPr marL="164592" marR="164592" marT="109728" marB="10972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Refugio Peatonal Resiliente</a:t>
                      </a:r>
                      <a:br/>
                      <a:r>
                        <a:t>(Paradero con sombra)</a:t>
                      </a:r>
                    </a:p>
                  </a:txBody>
                  <a:tcPr marL="164592" marR="164592" marT="109728" marB="10972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Desde 115 UF</a:t>
                      </a:r>
                      <a:br/>
                      <a:r>
                        <a:t>(~$4.500.000 CLP + IVA)</a:t>
                      </a:r>
                    </a:p>
                  </a:txBody>
                  <a:tcPr marL="164592" marR="164592" marT="109728" marB="10972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Licitación paradero metálico:</a:t>
                      </a:r>
                      <a:br/>
                      <a:r>
                        <a:t>$4.200.000 - $6.800.000 CLP</a:t>
                      </a:r>
                    </a:p>
                  </a:txBody>
                  <a:tcPr marL="164592" marR="164592" marT="109728" marB="10972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Estructura paramétrica que autodisipa calor, no se corroe con brisa costera, auditable para metas Ley REP.</a:t>
                      </a:r>
                    </a:p>
                  </a:txBody>
                  <a:tcPr marL="164592" marR="164592" marT="109728" marB="109728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Pack Movilidad Senior</a:t>
                      </a:r>
                      <a:br/>
                      <a:r>
                        <a:t>(5 Kits UV + 10 Grips)</a:t>
                      </a:r>
                    </a:p>
                  </a:txBody>
                  <a:tcPr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Desde 14 UF</a:t>
                      </a:r>
                      <a:br/>
                      <a:r>
                        <a:t>(~$525.000 CLP + IVA)</a:t>
                      </a:r>
                    </a:p>
                  </a:txBody>
                  <a:tcPr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Ayudas técnicas estándar:</a:t>
                      </a:r>
                      <a:br/>
                      <a:r>
                        <a:t>Sin adaptación climática</a:t>
                      </a:r>
                    </a:p>
                  </a:txBody>
                  <a:tcPr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Geometría fractal antitranspirante para artrosis y pantallas UV portátiles co-diseñadas con personas mayores.</a:t>
                      </a:r>
                    </a:p>
                  </a:txBody>
                  <a:tcPr marL="164592" marR="164592" marT="109728" marB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9204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ANÁLISIS DE COSTO DE CICLO DE VIDA (LCC &amp; TCO)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El costo inicial es equivalente al mobiliario tradicional de catálogo, pero al eliminar el 66% del gasto en mantenciones periódicas (pintura, lijado, recambios por corrosión), el Costo Total de Propiedad (TCO) se vuelve sustancialmente más económico a partir del mes 18 a 24.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89204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EFICIENCIA EN MANUFACTURA (STARTUP.LAB01)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Gracias a la residencia activa en startup.lab01 (Fundación Chile), SustentaFab opera con infraestructura compartida de manufactura 3D industrial de gran escala. Esto reduce el costo marginal de producción y permite pilotajes ágiles sin requerir inversión municipal en maquinaria pesada.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IMPLEMENTACIÓN ÁGIL • CIERRE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Oferta táctica de piloto en 60–90 días con compra ágil y validación TRL 5 en terreno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Condiciones concretas de ejecución, mecanismos administrativos de adquisición y punto de partida comunal.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1. OFERTA DE PILOTO TÁCTICO</a:t>
            </a:r>
          </a:p>
          <a:p>
            <a:pPr algn="l"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▪ Alcance &amp; Unidades: </a:t>
            </a:r>
            <a:r>
              <a:rPr sz="1000">
                <a:solidFill>
                  <a:srgbClr val="64748B"/>
                </a:solidFill>
              </a:rPr>
              <a:t>2 Escaños Climáticos Modulares instalados + 1 Zona de Micro-Sombra / Refugio Piloto + 15 Kits de Protección Senior (Kits UV y Fractal Grips).</a:t>
            </a:r>
          </a:p>
          <a:p>
            <a:pPr algn="l"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▪ Plazo de Ejecución: </a:t>
            </a:r>
            <a:r>
              <a:rPr sz="1000">
                <a:solidFill>
                  <a:srgbClr val="64748B"/>
                </a:solidFill>
              </a:rPr>
              <a:t>60 a 90 días corridos desde aprobación del emplazamiento en BNUP hasta inauguración.</a:t>
            </a:r>
          </a:p>
          <a:p>
            <a:pPr algn="l"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▪ Entregables Formales: </a:t>
            </a:r>
            <a:r>
              <a:rPr sz="1000">
                <a:solidFill>
                  <a:srgbClr val="64748B"/>
                </a:solidFill>
              </a:rPr>
              <a:t>Activos instalados y fijados; Certificado Digital MRV con kg plásticos desviados y CO2e; y Reporte de Aceptabilidad Ergonómica con personas mayores.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783080"/>
            <a:ext cx="34290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2. MECANISMOS DE CONTRATACIÓN</a:t>
            </a:r>
          </a:p>
          <a:p>
            <a:pPr algn="l"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▪ Compra Ágil (ChileCompra): </a:t>
            </a:r>
            <a:r>
              <a:rPr sz="950">
                <a:solidFill>
                  <a:srgbClr val="64748B"/>
                </a:solidFill>
              </a:rPr>
              <a:t>Contratación rápida bajo el umbral de las 30 UTM a través de Mercado Público en rubros de Mobiliario Urbano y Refugios Peatonales.</a:t>
            </a:r>
          </a:p>
          <a:p>
            <a:pPr algn="l"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▪ Convenio de Colaboración Técnica: </a:t>
            </a:r>
            <a:r>
              <a:rPr sz="950">
                <a:solidFill>
                  <a:srgbClr val="64748B"/>
                </a:solidFill>
              </a:rPr>
              <a:t>Decreto municipal tipo 'Laboratorio Urbano' para pilotaje en Bienes Nacionales de Uso Público (BNUP) con aporte valorizado.</a:t>
            </a:r>
          </a:p>
          <a:p>
            <a:pPr algn="l"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▪ Contrato Directo por Innovación: </a:t>
            </a:r>
            <a:r>
              <a:rPr sz="950">
                <a:solidFill>
                  <a:srgbClr val="64748B"/>
                </a:solidFill>
              </a:rPr>
              <a:t>Vía proveedor exclusivo fundado en manufactura aditiva y ecodiseño circular certificado.</a:t>
            </a:r>
          </a:p>
          <a:p>
            <a:pPr algn="l"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▪ Opción Complementaria: </a:t>
            </a:r>
            <a:r>
              <a:rPr sz="950">
                <a:solidFill>
                  <a:srgbClr val="64748B"/>
                </a:solidFill>
              </a:rPr>
              <a:t>Alianza estratégica para cofinanciamiento vía fondos concursables (CORFO / Piensa en Grandes).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783080"/>
            <a:ext cx="34290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3B82F6"/>
                </a:solidFill>
                <a:latin typeface="Arial"/>
              </a:defRPr>
            </a:pPr>
            <a:r>
              <a:t>3. CONTACTO &amp; DIAGNÓSTICO WEB</a:t>
            </a:r>
          </a:p>
          <a:p>
            <a:pPr algn="l"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Raúl Galleguillos Fernández
</a:t>
            </a:r>
            <a:r>
              <a:rPr sz="950">
                <a:solidFill>
                  <a:srgbClr val="64748B"/>
                </a:solidFill>
              </a:rPr>
              <a:t>Director General SustentaFab
Residente startup.lab01 (FCh)</a:t>
            </a:r>
          </a:p>
          <a:p>
            <a:pPr algn="l"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Contacto Institucional:
</a:t>
            </a:r>
            <a:r>
              <a:rPr sz="950">
                <a:solidFill>
                  <a:srgbClr val="64748B"/>
                </a:solidFill>
              </a:rPr>
              <a:t>Consultoría e I+D SustentaFab SpA</a:t>
            </a:r>
          </a:p>
          <a:p>
            <a:pPr algn="l"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Diagnóstico &amp; Calculadora ROI Social:
</a:t>
            </a:r>
            <a:r>
              <a:rPr sz="950">
                <a:solidFill>
                  <a:srgbClr val="EA580C"/>
                </a:solidFill>
              </a:rPr>
              <a:t>sustentafab-landing.vercel.app</a:t>
            </a:r>
          </a:p>
          <a:p>
            <a:pPr algn="l"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Servicios &amp; Dirección Tecnológica:
</a:t>
            </a:r>
            <a:r>
              <a:rPr sz="950">
                <a:solidFill>
                  <a:srgbClr val="EA580C"/>
                </a:solidFill>
              </a:rPr>
              <a:t>raul-galleguillos-f-landing.vercel.app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 rIns="274320"/>
          <a:lstStyle/>
          <a:p>
            <a:pPr algn="ctr">
              <a:defRPr sz="1400" b="1">
                <a:solidFill>
                  <a:srgbClr val="EA580C"/>
                </a:solidFill>
                <a:latin typeface="Arial"/>
              </a:defRPr>
            </a:pPr>
            <a:r>
              <a:t>“TRL 5 – validado en terreno. El piloto demuestra el desempeño real antes de escalar”.</a:t>
            </a:r>
          </a:p>
          <a:p>
            <a:pPr algn="ctr"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Diseñado para dar certidumbre a alcaldías, SECPLA y gerencias ESG antes de cualquier compromiso de inversión masiva.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